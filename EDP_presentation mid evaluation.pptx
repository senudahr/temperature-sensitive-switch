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Ultra-Bold" charset="1" panose="00000900000000000000"/>
      <p:regular r:id="rId21"/>
    </p:embeddedFont>
    <p:embeddedFont>
      <p:font typeface="Montserrat" charset="1" panose="00000500000000000000"/>
      <p:regular r:id="rId22"/>
    </p:embeddedFont>
    <p:embeddedFont>
      <p:font typeface="Canva Sans Bold Italics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jpeg" Type="http://schemas.openxmlformats.org/officeDocument/2006/relationships/image"/><Relationship Id="rId7" Target="../media/VAGnaRZ_FM0.mp4" Type="http://schemas.openxmlformats.org/officeDocument/2006/relationships/video"/><Relationship Id="rId8" Target="../media/VAGnaRZ_FM0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6399" y="5143500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950976" y="-2642901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047471"/>
            <a:ext cx="8887398" cy="373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300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ENGINEERING DESIGN</a:t>
            </a:r>
          </a:p>
          <a:p>
            <a:pPr algn="l">
              <a:lnSpc>
                <a:spcPts val="11699"/>
              </a:lnSpc>
            </a:pPr>
            <a:r>
              <a:rPr lang="en-US" sz="12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22034" y="-3671601"/>
            <a:ext cx="7343202" cy="73432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480669" y="1433761"/>
            <a:ext cx="6578140" cy="6690726"/>
            <a:chOff x="0" y="0"/>
            <a:chExt cx="1732514" cy="17621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2514" cy="1762166"/>
            </a:xfrm>
            <a:custGeom>
              <a:avLst/>
              <a:gdLst/>
              <a:ahLst/>
              <a:cxnLst/>
              <a:rect r="r" b="b" t="t" l="l"/>
              <a:pathLst>
                <a:path h="1762166" w="1732514">
                  <a:moveTo>
                    <a:pt x="60023" y="0"/>
                  </a:moveTo>
                  <a:lnTo>
                    <a:pt x="1672492" y="0"/>
                  </a:lnTo>
                  <a:cubicBezTo>
                    <a:pt x="1705641" y="0"/>
                    <a:pt x="1732514" y="26873"/>
                    <a:pt x="1732514" y="60023"/>
                  </a:cubicBezTo>
                  <a:lnTo>
                    <a:pt x="1732514" y="1702144"/>
                  </a:lnTo>
                  <a:cubicBezTo>
                    <a:pt x="1732514" y="1718063"/>
                    <a:pt x="1726190" y="1733330"/>
                    <a:pt x="1714934" y="1744586"/>
                  </a:cubicBezTo>
                  <a:cubicBezTo>
                    <a:pt x="1703678" y="1755843"/>
                    <a:pt x="1688411" y="1762166"/>
                    <a:pt x="1672492" y="1762166"/>
                  </a:cubicBezTo>
                  <a:lnTo>
                    <a:pt x="60023" y="1762166"/>
                  </a:lnTo>
                  <a:cubicBezTo>
                    <a:pt x="44104" y="1762166"/>
                    <a:pt x="28837" y="1755843"/>
                    <a:pt x="17580" y="1744586"/>
                  </a:cubicBezTo>
                  <a:cubicBezTo>
                    <a:pt x="6324" y="1733330"/>
                    <a:pt x="0" y="1718063"/>
                    <a:pt x="0" y="1702144"/>
                  </a:cubicBezTo>
                  <a:lnTo>
                    <a:pt x="0" y="60023"/>
                  </a:lnTo>
                  <a:cubicBezTo>
                    <a:pt x="0" y="44104"/>
                    <a:pt x="6324" y="28837"/>
                    <a:pt x="17580" y="17580"/>
                  </a:cubicBezTo>
                  <a:cubicBezTo>
                    <a:pt x="28837" y="6324"/>
                    <a:pt x="44104" y="0"/>
                    <a:pt x="60023" y="0"/>
                  </a:cubicBezTo>
                  <a:close/>
                </a:path>
              </a:pathLst>
            </a:custGeom>
            <a:solidFill>
              <a:srgbClr val="7688A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32514" cy="1800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15962" y="1825347"/>
            <a:ext cx="5907553" cy="5907553"/>
          </a:xfrm>
          <a:custGeom>
            <a:avLst/>
            <a:gdLst/>
            <a:ahLst/>
            <a:cxnLst/>
            <a:rect r="r" b="b" t="t" l="l"/>
            <a:pathLst>
              <a:path h="5907553" w="5907553">
                <a:moveTo>
                  <a:pt x="0" y="0"/>
                </a:moveTo>
                <a:lnTo>
                  <a:pt x="5907554" y="0"/>
                </a:lnTo>
                <a:lnTo>
                  <a:pt x="5907554" y="5907554"/>
                </a:lnTo>
                <a:lnTo>
                  <a:pt x="0" y="5907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044819"/>
            <a:ext cx="9182718" cy="4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399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Presented by SSRT Group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82227"/>
            <a:ext cx="9182718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b="true" sz="5399" i="true">
                <a:solidFill>
                  <a:srgbClr val="05183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Smart Plug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91816"/>
            <a:ext cx="8177423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30255"/>
            <a:ext cx="9588658" cy="51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People usually leave their fan running</a:t>
            </a:r>
          </a:p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through the night while they sleep. But</a:t>
            </a:r>
          </a:p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sometimes they wake up needing to turn it off because it’s too cold.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Also in offices and homes, a lot of power is wasted because of fans running when people aren’t using them.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1100"/>
            <a:ext cx="9358278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08276"/>
            <a:ext cx="10179086" cy="720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 universal smart plug that connects at the power supply to the fan.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This provides the following features:</a:t>
            </a:r>
          </a:p>
          <a:p>
            <a:pPr algn="l">
              <a:lnSpc>
                <a:spcPts val="4079"/>
              </a:lnSpc>
            </a:pPr>
          </a:p>
          <a:p>
            <a:pPr algn="l" marL="800656" indent="-400328" lvl="1">
              <a:lnSpc>
                <a:spcPts val="4079"/>
              </a:lnSpc>
              <a:buFont typeface="Arial"/>
              <a:buChar char="•"/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Automatic ON/OFF based on temperature and humidity.</a:t>
            </a:r>
          </a:p>
          <a:p>
            <a:pPr algn="l">
              <a:lnSpc>
                <a:spcPts val="4079"/>
              </a:lnSpc>
            </a:pPr>
          </a:p>
          <a:p>
            <a:pPr algn="l" marL="800656" indent="-400328" lvl="1">
              <a:lnSpc>
                <a:spcPts val="4079"/>
              </a:lnSpc>
              <a:buFont typeface="Arial"/>
              <a:buChar char="•"/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The ability to set a timetable for the fan to turn off automatically.</a:t>
            </a:r>
          </a:p>
          <a:p>
            <a:pPr algn="l">
              <a:lnSpc>
                <a:spcPts val="4079"/>
              </a:lnSpc>
            </a:pPr>
          </a:p>
          <a:p>
            <a:pPr algn="l" marL="800656" indent="-400328" lvl="1">
              <a:lnSpc>
                <a:spcPts val="4079"/>
              </a:lnSpc>
              <a:buFont typeface="Arial"/>
              <a:buChar char="•"/>
            </a:pPr>
            <a:r>
              <a:rPr lang="en-US" sz="37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Remote control via a mobile app.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92065"/>
            <a:ext cx="8177423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GOALS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545962"/>
            <a:ext cx="12530005" cy="42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</a:p>
          <a:p>
            <a:pPr algn="l" marL="800990" indent="-400495" lvl="1">
              <a:lnSpc>
                <a:spcPts val="3710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Energy Efficiency: Reduces unnecessary power consumption.</a:t>
            </a:r>
          </a:p>
          <a:p>
            <a:pPr algn="l">
              <a:lnSpc>
                <a:spcPts val="3710"/>
              </a:lnSpc>
            </a:pPr>
          </a:p>
          <a:p>
            <a:pPr algn="l" marL="800990" indent="-400495" lvl="1">
              <a:lnSpc>
                <a:spcPts val="3710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User-Friendly: Provides remote control and scheduling via a mobile app.</a:t>
            </a:r>
          </a:p>
          <a:p>
            <a:pPr algn="l">
              <a:lnSpc>
                <a:spcPts val="3710"/>
              </a:lnSpc>
            </a:pPr>
          </a:p>
          <a:p>
            <a:pPr algn="l" marL="800990" indent="-400495" lvl="1">
              <a:lnSpc>
                <a:spcPts val="3710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Affordability: A cost-effective smart home solution.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15879" y="493917"/>
            <a:ext cx="11856241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PROOF OF CONCEPT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545962"/>
            <a:ext cx="12530005" cy="14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  <a:spcBef>
                <a:spcPct val="0"/>
              </a:spcBef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We conducted the google survey to check whether the problem we identified is a concern for the public and to find the public opinion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1834" y="1913186"/>
            <a:ext cx="16451820" cy="7549230"/>
          </a:xfrm>
          <a:custGeom>
            <a:avLst/>
            <a:gdLst/>
            <a:ahLst/>
            <a:cxnLst/>
            <a:rect r="r" b="b" t="t" l="l"/>
            <a:pathLst>
              <a:path h="7549230" w="16451820">
                <a:moveTo>
                  <a:pt x="0" y="0"/>
                </a:moveTo>
                <a:lnTo>
                  <a:pt x="16451820" y="0"/>
                </a:lnTo>
                <a:lnTo>
                  <a:pt x="16451820" y="7549230"/>
                </a:lnTo>
                <a:lnTo>
                  <a:pt x="0" y="7549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05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124" y="1688756"/>
            <a:ext cx="15382176" cy="7312838"/>
          </a:xfrm>
          <a:custGeom>
            <a:avLst/>
            <a:gdLst/>
            <a:ahLst/>
            <a:cxnLst/>
            <a:rect r="r" b="b" t="t" l="l"/>
            <a:pathLst>
              <a:path h="7312838" w="15382176">
                <a:moveTo>
                  <a:pt x="0" y="0"/>
                </a:moveTo>
                <a:lnTo>
                  <a:pt x="15382176" y="0"/>
                </a:lnTo>
                <a:lnTo>
                  <a:pt x="15382176" y="7312837"/>
                </a:lnTo>
                <a:lnTo>
                  <a:pt x="0" y="7312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1004" y="1998891"/>
            <a:ext cx="17252882" cy="7259409"/>
          </a:xfrm>
          <a:custGeom>
            <a:avLst/>
            <a:gdLst/>
            <a:ahLst/>
            <a:cxnLst/>
            <a:rect r="r" b="b" t="t" l="l"/>
            <a:pathLst>
              <a:path h="7259409" w="17252882">
                <a:moveTo>
                  <a:pt x="0" y="0"/>
                </a:moveTo>
                <a:lnTo>
                  <a:pt x="17252882" y="0"/>
                </a:lnTo>
                <a:lnTo>
                  <a:pt x="17252882" y="7259409"/>
                </a:lnTo>
                <a:lnTo>
                  <a:pt x="0" y="7259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91816"/>
            <a:ext cx="12865537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MODULES WE USE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30255"/>
            <a:ext cx="11106053" cy="412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Microcontroller: ATmega328</a:t>
            </a: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Relay Module: MD0486</a:t>
            </a: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Bluetooth Module: HC-05</a:t>
            </a: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Sensors: DHT11 (Temperature Humidity)</a:t>
            </a: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Display: LCD 1602</a:t>
            </a: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Clock: DS1302 Real-Time Clock</a:t>
            </a:r>
          </a:p>
          <a:p>
            <a:pPr algn="l">
              <a:lnSpc>
                <a:spcPts val="408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91816"/>
            <a:ext cx="12865537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RESULTS UP TO NOW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18286"/>
            <a:ext cx="9588658" cy="172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Making the prototype using Arduino board.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PCB designing completed.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Basic enclosure design in done.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Arduino code completed.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71338" y="3094643"/>
            <a:ext cx="6286904" cy="5487007"/>
          </a:xfrm>
          <a:custGeom>
            <a:avLst/>
            <a:gdLst/>
            <a:ahLst/>
            <a:cxnLst/>
            <a:rect r="r" b="b" t="t" l="l"/>
            <a:pathLst>
              <a:path h="5487007" w="6286904">
                <a:moveTo>
                  <a:pt x="0" y="0"/>
                </a:moveTo>
                <a:lnTo>
                  <a:pt x="6286904" y="0"/>
                </a:lnTo>
                <a:lnTo>
                  <a:pt x="6286904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15879" y="1455813"/>
            <a:ext cx="11856241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PCB DESIGN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5130730" y="3637267"/>
            <a:ext cx="8026541" cy="562103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215879" y="822400"/>
            <a:ext cx="11856241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ENCLOSURE DESIGN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91816"/>
            <a:ext cx="12865537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CHALLENGES AND SOLUTIONS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17541"/>
            <a:ext cx="16230600" cy="309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</a:p>
          <a:p>
            <a:pPr algn="l" marL="800990" indent="-400495" lvl="1">
              <a:lnSpc>
                <a:spcPts val="4081"/>
              </a:lnSpc>
              <a:buFont typeface="Arial"/>
              <a:buChar char="•"/>
            </a:pPr>
            <a:r>
              <a:rPr lang="en-US" sz="3710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Users being concerned they might forget to switch off the fan if they do not see it working in the morning. - Using a RTC module  to adjust the time periods device work.</a:t>
            </a:r>
          </a:p>
          <a:p>
            <a:pPr algn="l">
              <a:lnSpc>
                <a:spcPts val="4081"/>
              </a:lnSpc>
            </a:pPr>
          </a:p>
          <a:p>
            <a:pPr algn="l">
              <a:lnSpc>
                <a:spcPts val="408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318566" y="3949700"/>
            <a:ext cx="13652130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DOES ANYONE</a:t>
            </a:r>
          </a:p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have questions?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978346" y="3470876"/>
            <a:ext cx="8331309" cy="362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2"/>
              </a:lnSpc>
            </a:pPr>
            <a:r>
              <a:rPr lang="en-US" b="true" sz="13952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  <a:p>
            <a:pPr algn="ctr">
              <a:lnSpc>
                <a:spcPts val="13952"/>
              </a:lnSpc>
              <a:spcBef>
                <a:spcPct val="0"/>
              </a:spcBef>
            </a:pPr>
            <a:r>
              <a:rPr lang="en-US" b="true" sz="13952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you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DAGnN4zV7yY</dc:identifier>
  <dcterms:modified xsi:type="dcterms:W3CDTF">2011-08-01T06:04:30Z</dcterms:modified>
  <cp:revision>1</cp:revision>
  <dc:title>engineering design project</dc:title>
</cp:coreProperties>
</file>